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6" r:id="rId5"/>
    <p:sldId id="297" r:id="rId6"/>
    <p:sldId id="286" r:id="rId7"/>
    <p:sldId id="298" r:id="rId8"/>
    <p:sldId id="299" r:id="rId9"/>
    <p:sldId id="261" r:id="rId10"/>
    <p:sldId id="300" r:id="rId11"/>
    <p:sldId id="265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887" autoAdjust="0"/>
  </p:normalViewPr>
  <p:slideViewPr>
    <p:cSldViewPr snapToGrid="0" showGuides="1">
      <p:cViewPr>
        <p:scale>
          <a:sx n="75" d="100"/>
          <a:sy n="75" d="100"/>
        </p:scale>
        <p:origin x="974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12/16/2025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744" y="2509520"/>
            <a:ext cx="10954512" cy="2072640"/>
          </a:xfrm>
        </p:spPr>
        <p:txBody>
          <a:bodyPr anchor="b"/>
          <a:lstStyle/>
          <a:p>
            <a:r>
              <a:rPr lang="en-US" dirty="0"/>
              <a:t>Global Population and GDP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83223"/>
            <a:ext cx="3939032" cy="44805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Sakthivel p</a:t>
            </a: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12" y="576072"/>
            <a:ext cx="5535168" cy="856488"/>
          </a:xfrm>
          <a:noFill/>
        </p:spPr>
        <p:txBody>
          <a:bodyPr anchor="ctr">
            <a:noAutofit/>
          </a:bodyPr>
          <a:lstStyle/>
          <a:p>
            <a:r>
              <a:rPr lang="en-IN" dirty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240" y="1432560"/>
            <a:ext cx="9367520" cy="1127760"/>
          </a:xfrm>
          <a:noFill/>
        </p:spPr>
        <p:txBody>
          <a:bodyPr>
            <a:noAutofit/>
          </a:bodyPr>
          <a:lstStyle/>
          <a:p>
            <a:r>
              <a:rPr lang="en-US" dirty="0"/>
              <a:t>This project analyzes global population and economic trends using multiple datasets covering population, GDP, literacy, infant mortality, and regional characteristics.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EC5CF1-2B80-15BF-4BF8-898489C26783}"/>
              </a:ext>
            </a:extLst>
          </p:cNvPr>
          <p:cNvSpPr txBox="1">
            <a:spLocks/>
          </p:cNvSpPr>
          <p:nvPr/>
        </p:nvSpPr>
        <p:spPr>
          <a:xfrm>
            <a:off x="1379992" y="2428240"/>
            <a:ext cx="9367520" cy="3518408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cap="all" baseline="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SQL Database: </a:t>
            </a:r>
          </a:p>
          <a:p>
            <a:pPr lvl="1"/>
            <a:r>
              <a:rPr lang="en-IN" dirty="0"/>
              <a:t>Countries world </a:t>
            </a:r>
          </a:p>
          <a:p>
            <a:r>
              <a:rPr lang="en-IN" dirty="0"/>
              <a:t>Excel Files:</a:t>
            </a:r>
          </a:p>
          <a:p>
            <a:pPr lvl="1"/>
            <a:r>
              <a:rPr lang="en-IN" dirty="0"/>
              <a:t>Population data (1960–2017)</a:t>
            </a:r>
          </a:p>
          <a:p>
            <a:pPr lvl="1"/>
            <a:r>
              <a:rPr lang="en-IN" dirty="0"/>
              <a:t>GDP data (1960–2016)</a:t>
            </a:r>
          </a:p>
          <a:p>
            <a:pPr lvl="1"/>
            <a:r>
              <a:rPr lang="en-IN" dirty="0"/>
              <a:t>Country metadata (region, income group)</a:t>
            </a:r>
          </a:p>
          <a:p>
            <a:r>
              <a:rPr lang="en-IN" dirty="0"/>
              <a:t>Tools used:</a:t>
            </a:r>
          </a:p>
          <a:p>
            <a:pPr lvl="1"/>
            <a:r>
              <a:rPr lang="en-IN" dirty="0"/>
              <a:t>Power BI</a:t>
            </a:r>
          </a:p>
          <a:p>
            <a:pPr lvl="1"/>
            <a:r>
              <a:rPr lang="en-IN" dirty="0"/>
              <a:t>Power Query for data cleaning</a:t>
            </a:r>
          </a:p>
          <a:p>
            <a:pPr lvl="1"/>
            <a:r>
              <a:rPr lang="en-IN" dirty="0"/>
              <a:t>DAX for calculated measures (CAGR, GDP per capita, rankings)</a:t>
            </a:r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460736" cy="970280"/>
          </a:xfrm>
          <a:noFill/>
        </p:spPr>
        <p:txBody>
          <a:bodyPr>
            <a:noAutofit/>
          </a:bodyPr>
          <a:lstStyle/>
          <a:p>
            <a:r>
              <a:rPr lang="en-IN" dirty="0"/>
              <a:t>Global Population Overview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08C0C-E009-3875-0DAF-8FCA4880E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70280"/>
            <a:ext cx="7223760" cy="5944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B32F6-5A11-FA6B-3B47-F120783E1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0" y="1940560"/>
            <a:ext cx="3991396" cy="3218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3B0C20-97C2-1EF1-7CD8-49A4E3ED60BD}"/>
              </a:ext>
            </a:extLst>
          </p:cNvPr>
          <p:cNvSpPr txBox="1"/>
          <p:nvPr/>
        </p:nvSpPr>
        <p:spPr>
          <a:xfrm>
            <a:off x="7508241" y="1617193"/>
            <a:ext cx="468375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Content: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Global population has increased steadily over time.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Population growth is </a:t>
            </a:r>
            <a:r>
              <a:rPr lang="en-US" b="1" dirty="0"/>
              <a:t>uneven across regions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Asia contributes the </a:t>
            </a:r>
            <a:r>
              <a:rPr lang="en-US" b="1" dirty="0"/>
              <a:t>largest share of global population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Africa shows </a:t>
            </a:r>
            <a:r>
              <a:rPr lang="en-US" b="1" dirty="0"/>
              <a:t>rapid population expansion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4EB29-DF08-E845-4ADE-C0EF59E9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0981-E155-AF84-B5AB-0A9D9F2A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32" y="375920"/>
            <a:ext cx="7689088" cy="689864"/>
          </a:xfrm>
          <a:noFill/>
        </p:spPr>
        <p:txBody>
          <a:bodyPr anchor="b">
            <a:noAutofit/>
          </a:bodyPr>
          <a:lstStyle/>
          <a:p>
            <a:r>
              <a:rPr lang="en-IN" dirty="0"/>
              <a:t>Population Growth by Region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226CF-ADBC-DA3E-5DF3-7706FE10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2B694-794F-40D0-0294-5223250B4510}"/>
              </a:ext>
            </a:extLst>
          </p:cNvPr>
          <p:cNvSpPr txBox="1"/>
          <p:nvPr/>
        </p:nvSpPr>
        <p:spPr>
          <a:xfrm>
            <a:off x="6014720" y="1585635"/>
            <a:ext cx="536923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Content: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Sub-Saharan Africa has the </a:t>
            </a:r>
            <a:r>
              <a:rPr lang="en-US" b="1" dirty="0"/>
              <a:t>highest population CAGR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Asia shows sustained long-term population growth.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Europe and North America display </a:t>
            </a:r>
            <a:r>
              <a:rPr lang="en-US" b="1" dirty="0"/>
              <a:t>low or stagnant growth</a:t>
            </a:r>
            <a:r>
              <a:rPr lang="en-US" dirty="0"/>
              <a:t> due to aging populations.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583697-2B69-2B28-AD9A-5A6F458F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07" y="1243205"/>
            <a:ext cx="3982006" cy="23917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D7CE68-7354-D144-95E9-6551CE68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07" y="4300551"/>
            <a:ext cx="398200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4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634A7-04C2-F5C5-7120-D6B89B9A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7E3B-C200-63C6-1D71-73BBC8A82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460736" cy="970280"/>
          </a:xfrm>
          <a:noFill/>
        </p:spPr>
        <p:txBody>
          <a:bodyPr>
            <a:noAutofit/>
          </a:bodyPr>
          <a:lstStyle/>
          <a:p>
            <a:r>
              <a:rPr lang="en-IN" dirty="0"/>
              <a:t>Global GDP Overview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36660-C496-60B3-AD92-AE18E0B6DFE6}"/>
              </a:ext>
            </a:extLst>
          </p:cNvPr>
          <p:cNvSpPr txBox="1"/>
          <p:nvPr/>
        </p:nvSpPr>
        <p:spPr>
          <a:xfrm>
            <a:off x="7508242" y="1881353"/>
            <a:ext cx="468375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Content:</a:t>
            </a:r>
          </a:p>
          <a:p>
            <a:endParaRPr lang="en-US" sz="2400" dirty="0"/>
          </a:p>
          <a:p>
            <a:r>
              <a:rPr lang="en-US" sz="2000" dirty="0"/>
              <a:t>Global GDP shows </a:t>
            </a:r>
            <a:r>
              <a:rPr lang="en-US" sz="2000" b="1" dirty="0"/>
              <a:t>steady long-term growth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GDP per capita varies significantly across countries.</a:t>
            </a:r>
          </a:p>
          <a:p>
            <a:endParaRPr lang="en-US" sz="2000" dirty="0"/>
          </a:p>
          <a:p>
            <a:r>
              <a:rPr lang="en-US" sz="2000" dirty="0"/>
              <a:t>High GDP does not always imply high GDP per capita.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A416C-FCE9-7DB2-8C25-D9214F6F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4" y="970280"/>
            <a:ext cx="7108836" cy="539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2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032" y="467360"/>
            <a:ext cx="10277856" cy="781304"/>
          </a:xfrm>
          <a:noFill/>
        </p:spPr>
        <p:txBody>
          <a:bodyPr anchor="b">
            <a:noAutofit/>
          </a:bodyPr>
          <a:lstStyle/>
          <a:p>
            <a:r>
              <a:rPr lang="en-IN" dirty="0"/>
              <a:t>GDP per Capita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6390" y="1739304"/>
            <a:ext cx="4999178" cy="3950296"/>
          </a:xfrm>
          <a:noFill/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Content: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Countries like Switzerland, Iceland, and Canada rank high in GDP per capita.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Smaller economies can outperform larger ones in per-capita wealth.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GDP Rank dynamically shows each country’s relative economic position.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06B104-D1B7-E295-0A3F-4E255C11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37" y="1739304"/>
            <a:ext cx="4621692" cy="39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AC6A-F040-D8D9-073E-D9E80FFA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8E30-C21B-D8F3-DD31-34820980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032" y="467360"/>
            <a:ext cx="10277856" cy="781304"/>
          </a:xfrm>
          <a:noFill/>
        </p:spPr>
        <p:txBody>
          <a:bodyPr anchor="b">
            <a:noAutofit/>
          </a:bodyPr>
          <a:lstStyle/>
          <a:p>
            <a:r>
              <a:rPr lang="en-IN" dirty="0"/>
              <a:t>GDP Growth Trends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09B2-F652-9808-84A8-DB1E7586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6390" y="1739304"/>
            <a:ext cx="4999178" cy="3950296"/>
          </a:xfrm>
          <a:noFill/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Content: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Global GDP CAGR indicates </a:t>
            </a:r>
            <a:r>
              <a:rPr lang="en-US" b="1" dirty="0">
                <a:solidFill>
                  <a:schemeClr val="tx1"/>
                </a:solidFill>
              </a:rPr>
              <a:t>moderate and stable economic growth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Developing economies show faster growth rates.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Developed economies show stable but slower growth.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972C40-49BC-9E84-B2C5-8B6E1E123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A9179-4F1C-107D-9F8B-93EC8C79A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32" y="1854663"/>
            <a:ext cx="4782217" cy="337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4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312" y="558800"/>
            <a:ext cx="5271008" cy="669544"/>
          </a:xfrm>
          <a:noFill/>
        </p:spPr>
        <p:txBody>
          <a:bodyPr>
            <a:noAutofit/>
          </a:bodyPr>
          <a:lstStyle/>
          <a:p>
            <a:r>
              <a:rPr lang="en-IN" dirty="0"/>
              <a:t>Population vs GDP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7464" y="1982216"/>
            <a:ext cx="7011416" cy="3090672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 b="1" dirty="0"/>
              <a:t>Content: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population growth regions often have </a:t>
            </a:r>
            <a:r>
              <a:rPr lang="en-US" b="1" dirty="0"/>
              <a:t>lower GDP per capita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Economically developed regions tend to have </a:t>
            </a:r>
            <a:r>
              <a:rPr lang="en-US" b="1" dirty="0"/>
              <a:t>slower population growth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Literacy and education act as a bridge between population growth and economic development.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2651760"/>
            <a:ext cx="9912096" cy="1265490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117</TotalTime>
  <Words>302</Words>
  <Application>Microsoft Office PowerPoint</Application>
  <PresentationFormat>Widescreen</PresentationFormat>
  <Paragraphs>70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Custom</vt:lpstr>
      <vt:lpstr>Global Population and GDP Analysis</vt:lpstr>
      <vt:lpstr>Overview</vt:lpstr>
      <vt:lpstr>Global Population Overview</vt:lpstr>
      <vt:lpstr>Population Growth by Region</vt:lpstr>
      <vt:lpstr>Global GDP Overview</vt:lpstr>
      <vt:lpstr>GDP per Capita Analysis</vt:lpstr>
      <vt:lpstr>GDP Growth Trends</vt:lpstr>
      <vt:lpstr>Population vs GDP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Pradeevraj Palanisamy</dc:creator>
  <cp:lastModifiedBy>Pradeevraj Palanisamy</cp:lastModifiedBy>
  <cp:revision>1</cp:revision>
  <dcterms:created xsi:type="dcterms:W3CDTF">2025-12-16T05:55:48Z</dcterms:created>
  <dcterms:modified xsi:type="dcterms:W3CDTF">2025-12-16T07:52:50Z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